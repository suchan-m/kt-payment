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Tahoma"/>
              </a:rPr>
              <a:t>KNOWLEDGE TRANSFER (KT)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 dirty="0">
                <a:solidFill>
                  <a:srgbClr val="FFFFFF"/>
                </a:solidFill>
                <a:latin typeface="Tahoma"/>
              </a:rPr>
              <a:t>VMCS / Payment Tracking (PTS)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Support Handover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Tahoma"/>
              </a:rPr>
              <a:t>25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dirty="0">
                <a:solidFill>
                  <a:srgbClr val="282828"/>
                </a:solidFill>
                <a:latin typeface="Tahoma"/>
              </a:rPr>
              <a:t>•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ภาพรวมระบบและ</a:t>
            </a:r>
            <a:r>
              <a:rPr sz="2000" dirty="0">
                <a:solidFill>
                  <a:srgbClr val="282828"/>
                </a:solidFill>
                <a:latin typeface="Tahoma"/>
              </a:rPr>
              <a:t> Scope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ที่</a:t>
            </a:r>
            <a:r>
              <a:rPr sz="2000" dirty="0">
                <a:solidFill>
                  <a:srgbClr val="282828"/>
                </a:solidFill>
                <a:latin typeface="Tahoma"/>
              </a:rPr>
              <a:t> Support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ต้องดูแล</a:t>
            </a:r>
            <a:endParaRPr sz="20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2000" dirty="0">
                <a:solidFill>
                  <a:srgbClr val="282828"/>
                </a:solidFill>
                <a:latin typeface="Tahoma"/>
              </a:rPr>
              <a:t>•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การเชื่อมต่อ</a:t>
            </a:r>
            <a:r>
              <a:rPr sz="2000" dirty="0">
                <a:solidFill>
                  <a:srgbClr val="282828"/>
                </a:solidFill>
                <a:latin typeface="Tahoma"/>
              </a:rPr>
              <a:t> VMCS / PTS / SAP / Authentication</a:t>
            </a:r>
          </a:p>
          <a:p>
            <a:pPr>
              <a:spcAft>
                <a:spcPts val="900"/>
              </a:spcAft>
            </a:pPr>
            <a:r>
              <a:rPr sz="2000" dirty="0">
                <a:solidFill>
                  <a:srgbClr val="282828"/>
                </a:solidFill>
                <a:latin typeface="Tahoma"/>
              </a:rPr>
              <a:t>•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ฟังก์ชัน</a:t>
            </a:r>
            <a:r>
              <a:rPr sz="2000" dirty="0">
                <a:solidFill>
                  <a:srgbClr val="282828"/>
                </a:solidFill>
                <a:latin typeface="Tahoma"/>
              </a:rPr>
              <a:t> Vendor </a:t>
            </a:r>
            <a:r>
              <a:rPr sz="2000" dirty="0" err="1">
                <a:solidFill>
                  <a:srgbClr val="282828"/>
                </a:solidFill>
                <a:latin typeface="Tahoma"/>
              </a:rPr>
              <a:t>และการเปลี่ยนแปลงสำคัญ</a:t>
            </a:r>
            <a:endParaRPr sz="20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2000" dirty="0">
                <a:solidFill>
                  <a:srgbClr val="282828"/>
                </a:solidFill>
                <a:latin typeface="Tahoma"/>
              </a:rPr>
              <a:t>• Create / Update Account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64592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ahoma"/>
              </a:rPr>
              <a:t>Vendor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148840"/>
            <a:ext cx="164592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ahoma"/>
              </a:rPr>
              <a:t>VMCS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148840"/>
            <a:ext cx="164592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ahoma"/>
              </a:rPr>
              <a:t>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148840"/>
            <a:ext cx="164592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ahoma"/>
              </a:rPr>
              <a:t>SAP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148840"/>
            <a:ext cx="164592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ahoma"/>
              </a:rPr>
              <a:t>Authentication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450592"/>
            <a:ext cx="502920" cy="365760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709160" y="2450592"/>
            <a:ext cx="502920" cy="365760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086600" y="2450592"/>
            <a:ext cx="502920" cy="365760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9281160" y="2450592"/>
            <a:ext cx="502920" cy="365760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42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Vendor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เข้าใช้งานผ่าน</a:t>
            </a:r>
            <a:r>
              <a:rPr sz="1500" dirty="0">
                <a:solidFill>
                  <a:srgbClr val="282828"/>
                </a:solidFill>
                <a:latin typeface="Tahoma"/>
              </a:rPr>
              <a:t> VMCS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เป็นจุดหลัก</a:t>
            </a:r>
            <a:endParaRPr sz="15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VMCS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ส่งข้อมูล</a:t>
            </a:r>
            <a:r>
              <a:rPr lang="en-GB" sz="1500" dirty="0">
                <a:solidFill>
                  <a:srgbClr val="282828"/>
                </a:solidFill>
                <a:latin typeface="Tahoma"/>
              </a:rPr>
              <a:t> Vendor</a:t>
            </a:r>
            <a:r>
              <a:rPr lang="th-TH" sz="1500" dirty="0">
                <a:solidFill>
                  <a:srgbClr val="282828"/>
                </a:solidFill>
                <a:latin typeface="Tahoma"/>
              </a:rPr>
              <a:t> </a:t>
            </a:r>
            <a:r>
              <a:rPr lang="en-US" sz="1500" dirty="0">
                <a:solidFill>
                  <a:srgbClr val="282828"/>
                </a:solidFill>
                <a:latin typeface="Tahoma"/>
              </a:rPr>
              <a:t>Contract </a:t>
            </a:r>
            <a:r>
              <a:rPr lang="th-TH" sz="1500" dirty="0">
                <a:solidFill>
                  <a:srgbClr val="282828"/>
                </a:solidFill>
                <a:latin typeface="Tahoma"/>
              </a:rPr>
              <a:t>ผ่าน </a:t>
            </a:r>
            <a:r>
              <a:rPr lang="en-US" sz="1500" dirty="0">
                <a:solidFill>
                  <a:srgbClr val="282828"/>
                </a:solidFill>
                <a:latin typeface="Tahoma"/>
              </a:rPr>
              <a:t>Service </a:t>
            </a:r>
            <a:r>
              <a:rPr sz="1500" dirty="0">
                <a:solidFill>
                  <a:srgbClr val="282828"/>
                </a:solidFill>
                <a:latin typeface="Tahoma"/>
              </a:rPr>
              <a:t> Create / Update / Inactive Account</a:t>
            </a:r>
            <a:r>
              <a:rPr lang="en-US" sz="1500" dirty="0">
                <a:solidFill>
                  <a:srgbClr val="282828"/>
                </a:solidFill>
                <a:latin typeface="Tahoma"/>
              </a:rPr>
              <a:t> </a:t>
            </a:r>
            <a:r>
              <a:rPr sz="1500" dirty="0">
                <a:solidFill>
                  <a:srgbClr val="282828"/>
                </a:solidFill>
                <a:latin typeface="Tahoma"/>
              </a:rPr>
              <a:t> </a:t>
            </a:r>
            <a:endParaRPr lang="th-TH" sz="15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PTS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รับข้อมูลธุรกรรมและ</a:t>
            </a:r>
            <a:r>
              <a:rPr sz="1500" dirty="0">
                <a:solidFill>
                  <a:srgbClr val="282828"/>
                </a:solidFill>
                <a:latin typeface="Tahoma"/>
              </a:rPr>
              <a:t> Vendor Master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บางส่วนจาก</a:t>
            </a:r>
            <a:r>
              <a:rPr sz="1500" dirty="0">
                <a:solidFill>
                  <a:srgbClr val="282828"/>
                </a:solidFill>
                <a:latin typeface="Tahoma"/>
              </a:rPr>
              <a:t> SAP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Key Changes – Payment Tracking (PTS)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271414"/>
              </p:ext>
            </p:extLst>
          </p:nvPr>
        </p:nvGraphicFramePr>
        <p:xfrm>
          <a:off x="502920" y="1234440"/>
          <a:ext cx="11155680" cy="4310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การเปลี่ยนแปลง / ผลกระทบ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SAP 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รองรับ Field / Length / Code Mapping ที่เปลี่ยน เช่น Payment Block / Payment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SAP Integration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PTS ส่ง Filter ไป SAP และทำ Data Conversion ก่อนบันทึก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VMCS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เพิ่ม API รับ Vendor Create / Update / 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Data Migration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ย้ายข้อมูลเดิมไปโครงสร้าง Database ใหม่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200">
                          <a:latin typeface="Tahoma"/>
                        </a:rPr>
                        <a:t>Shared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ahoma"/>
                        </a:rPr>
                        <a:t>บาง</a:t>
                      </a:r>
                      <a:r>
                        <a:rPr sz="1200" dirty="0">
                          <a:latin typeface="Tahoma"/>
                        </a:rPr>
                        <a:t> Block </a:t>
                      </a:r>
                      <a:r>
                        <a:rPr sz="1200" dirty="0" err="1">
                          <a:latin typeface="Tahoma"/>
                        </a:rPr>
                        <a:t>ปรับเป็น</a:t>
                      </a:r>
                      <a:r>
                        <a:rPr sz="1200" dirty="0">
                          <a:latin typeface="Tahoma"/>
                        </a:rPr>
                        <a:t> Public </a:t>
                      </a:r>
                      <a:r>
                        <a:rPr sz="1200" dirty="0" err="1">
                          <a:latin typeface="Tahoma"/>
                        </a:rPr>
                        <a:t>เพื่อให้</a:t>
                      </a:r>
                      <a:r>
                        <a:rPr sz="1200" dirty="0">
                          <a:latin typeface="Tahoma"/>
                        </a:rPr>
                        <a:t> VMCS </a:t>
                      </a:r>
                      <a:r>
                        <a:rPr sz="1200" dirty="0" err="1">
                          <a:latin typeface="Tahoma"/>
                        </a:rPr>
                        <a:t>เรียกใช้</a:t>
                      </a:r>
                      <a:endParaRPr sz="1200" dirty="0">
                        <a:latin typeface="Tahom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Vendor Functions ที่ Support ควรรู้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Function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สถานะ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Support Note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ใช้ VMCS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Vendor ใช้ Login OpenID ของ VMCS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Vendor Registration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ย้ายไป VMCS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ใช้ Sign Up ของ VMCS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Landing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ย้ายไป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เข้า Vendor Collaboration / VMCS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Invoice – List / Export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ยังใช้งาน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PaymentTracking_List / Invoice blocks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Contact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ยังใช้งาน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อาจ Open ไป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FAQs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ยังใช้งาน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อาจอยู่ PTS หรือรวมกับ VMCS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API – Create / Update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4572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dirty="0">
                <a:solidFill>
                  <a:srgbClr val="282828"/>
                </a:solidFill>
                <a:latin typeface="Tahoma"/>
              </a:rPr>
              <a:t>• Method: POST</a:t>
            </a:r>
          </a:p>
          <a:p>
            <a:pPr>
              <a:spcAft>
                <a:spcPts val="900"/>
              </a:spcAft>
            </a:pPr>
            <a:r>
              <a:rPr sz="1800" dirty="0">
                <a:solidFill>
                  <a:srgbClr val="282828"/>
                </a:solidFill>
                <a:latin typeface="Tahoma"/>
              </a:rPr>
              <a:t>• Endpoint Pattern: /VMCS/</a:t>
            </a:r>
            <a:r>
              <a:rPr sz="1800" dirty="0" err="1">
                <a:solidFill>
                  <a:srgbClr val="282828"/>
                </a:solidFill>
                <a:latin typeface="Tahoma"/>
              </a:rPr>
              <a:t>CreateUpdateAccount</a:t>
            </a:r>
            <a:endParaRPr sz="18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1800" dirty="0">
                <a:solidFill>
                  <a:srgbClr val="282828"/>
                </a:solidFill>
                <a:latin typeface="Tahoma"/>
              </a:rPr>
              <a:t>• Authorization: Bearer Token</a:t>
            </a:r>
          </a:p>
          <a:p>
            <a:pPr>
              <a:spcAft>
                <a:spcPts val="900"/>
              </a:spcAft>
            </a:pPr>
            <a:r>
              <a:rPr sz="1800" dirty="0">
                <a:solidFill>
                  <a:srgbClr val="282828"/>
                </a:solidFill>
                <a:latin typeface="Tahoma"/>
              </a:rPr>
              <a:t>• Sender: VMCS</a:t>
            </a:r>
          </a:p>
          <a:p>
            <a:pPr>
              <a:spcAft>
                <a:spcPts val="900"/>
              </a:spcAft>
            </a:pPr>
            <a:r>
              <a:rPr sz="1800" dirty="0">
                <a:solidFill>
                  <a:srgbClr val="282828"/>
                </a:solidFill>
                <a:latin typeface="Tahoma"/>
              </a:rPr>
              <a:t>• Receiver: POTS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77840" y="1325880"/>
          <a:ext cx="585216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Field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 dirty="0" err="1">
                          <a:latin typeface="Tahoma"/>
                        </a:rPr>
                        <a:t>vendorCode</a:t>
                      </a:r>
                      <a:endParaRPr sz="1000" dirty="0">
                        <a:latin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Vendor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companyCode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Company ที่อนุมัติ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userAccount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Email Main 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userFirstName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ชื่อ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userLastName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นามสกุล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accountStatus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Active / 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isRevoke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ยกเลิกสิทธิ์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requestDate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latin typeface="Tahoma"/>
                        </a:rPr>
                        <a:t>วันที่ทำรายการ</a:t>
                      </a:r>
                      <a:endParaRPr sz="1000" dirty="0">
                        <a:latin typeface="Tahom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API Response / Error Code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42241"/>
              </p:ext>
            </p:extLst>
          </p:nvPr>
        </p:nvGraphicFramePr>
        <p:xfrm>
          <a:off x="502920" y="1234440"/>
          <a:ext cx="1115567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Support Action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ตรวจข้อมูล User/Vendor ในปลายทาง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201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Inactive ไม่สำเร็จ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ตรวจ User ถูก Terminate หรือไม่มี Account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Invalid Request / 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ตรวจ Header, Payload, 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401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Unauthorized / Access Denied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ตรวจ Authorization / Client / Token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Server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ตรวจ Application Error Log / 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rPr sz="1100">
                          <a:latin typeface="Tahoma"/>
                        </a:rPr>
                        <a:t>503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latin typeface="Tahoma"/>
                        </a:rPr>
                        <a:t>Temporarily Unavailable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latin typeface="Tahoma"/>
                        </a:rPr>
                        <a:t>ตรวจ</a:t>
                      </a:r>
                      <a:r>
                        <a:rPr sz="1100" dirty="0">
                          <a:latin typeface="Tahoma"/>
                        </a:rPr>
                        <a:t> Service / Network / Retry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Incident Troubleshooting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อาการ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ตรวจสอบ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เกี่ยวข้อง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Vendor Login ไม่ได้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VMCS → Account Active → Token/Auth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VMCS /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เข้า PTS ไม่ได้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userAccount → accountStatus → isRevoke → Company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VMCS / PTS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Create/Update ไม่เข้า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Payload → Response → Log →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VMCS /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Inactive ไม่สำเร็จ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Code 201 / User exists / Terminated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PTS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Invoice ไม่ขึ้น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SAP API → Filter → Conversion →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SAP /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API 401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Token / Client / Access / Expiry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MuleSoft / Auth</a:t>
                      </a:r>
                    </a:p>
                  </a:txBody>
                  <a:tcPr>
                    <a:solidFill>
                      <a:srgbClr val="EB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API 500/503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App Error / Endpoint /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ahoma"/>
                        </a:rPr>
                        <a:t>PTS / Infra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Support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6464"/>
                </a:solidFill>
                <a:latin typeface="Tahoma"/>
              </a:rPr>
              <a:t>ลำดับตรวจสอบเบื้องต้นก่อน Escalate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1.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เก็บ</a:t>
            </a:r>
            <a:r>
              <a:rPr sz="1500" dirty="0">
                <a:solidFill>
                  <a:srgbClr val="282828"/>
                </a:solidFill>
                <a:latin typeface="Tahoma"/>
              </a:rPr>
              <a:t> User Email, Vendor Code, Company Code, Environment,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เวลา</a:t>
            </a:r>
            <a:r>
              <a:rPr sz="1500" dirty="0">
                <a:solidFill>
                  <a:srgbClr val="282828"/>
                </a:solidFill>
                <a:latin typeface="Tahoma"/>
              </a:rPr>
              <a:t>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และ</a:t>
            </a:r>
            <a:r>
              <a:rPr sz="1500" dirty="0">
                <a:solidFill>
                  <a:srgbClr val="282828"/>
                </a:solidFill>
                <a:latin typeface="Tahoma"/>
              </a:rPr>
              <a:t> Screenshot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2.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ระบุ</a:t>
            </a:r>
            <a:r>
              <a:rPr sz="1500" dirty="0">
                <a:solidFill>
                  <a:srgbClr val="282828"/>
                </a:solidFill>
                <a:latin typeface="Tahoma"/>
              </a:rPr>
              <a:t> Flow: Login / Registration / Account Sync / Invoice / SAP Integration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3. Login/Account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ให้เริ่มตรวจที่</a:t>
            </a:r>
            <a:r>
              <a:rPr sz="1500" dirty="0">
                <a:solidFill>
                  <a:srgbClr val="282828"/>
                </a:solidFill>
                <a:latin typeface="Tahoma"/>
              </a:rPr>
              <a:t> VMCS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4. Account Sync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ตรวจ</a:t>
            </a:r>
            <a:r>
              <a:rPr sz="1500" dirty="0">
                <a:solidFill>
                  <a:srgbClr val="282828"/>
                </a:solidFill>
                <a:latin typeface="Tahoma"/>
              </a:rPr>
              <a:t> Request/Response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โดยเน้น</a:t>
            </a:r>
            <a:r>
              <a:rPr sz="1500" dirty="0">
                <a:solidFill>
                  <a:srgbClr val="282828"/>
                </a:solidFill>
                <a:latin typeface="Tahoma"/>
              </a:rPr>
              <a:t>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userAccount</a:t>
            </a:r>
            <a:r>
              <a:rPr sz="1500" dirty="0">
                <a:solidFill>
                  <a:srgbClr val="282828"/>
                </a:solidFill>
                <a:latin typeface="Tahoma"/>
              </a:rPr>
              <a:t>,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accountStatus</a:t>
            </a:r>
            <a:r>
              <a:rPr sz="1500" dirty="0">
                <a:solidFill>
                  <a:srgbClr val="282828"/>
                </a:solidFill>
                <a:latin typeface="Tahoma"/>
              </a:rPr>
              <a:t>,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isRevoke</a:t>
            </a:r>
            <a:endParaRPr sz="15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5.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ตรวจ</a:t>
            </a:r>
            <a:r>
              <a:rPr sz="1500" dirty="0">
                <a:solidFill>
                  <a:srgbClr val="282828"/>
                </a:solidFill>
                <a:latin typeface="Tahoma"/>
              </a:rPr>
              <a:t> Response Code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และ</a:t>
            </a:r>
            <a:r>
              <a:rPr sz="1500" dirty="0">
                <a:solidFill>
                  <a:srgbClr val="282828"/>
                </a:solidFill>
                <a:latin typeface="Tahoma"/>
              </a:rPr>
              <a:t> Application / Integration Log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ตามเวลาเกิดเหตุ</a:t>
            </a:r>
            <a:endParaRPr sz="1500" dirty="0">
              <a:solidFill>
                <a:srgbClr val="282828"/>
              </a:solidFill>
              <a:latin typeface="Tahoma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6. API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สำเร็จแต่ข้อมูลไม่เปลี่ยน</a:t>
            </a:r>
            <a:r>
              <a:rPr sz="1500" dirty="0">
                <a:solidFill>
                  <a:srgbClr val="282828"/>
                </a:solidFill>
                <a:latin typeface="Tahoma"/>
              </a:rPr>
              <a:t> →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ตรวจ</a:t>
            </a:r>
            <a:r>
              <a:rPr sz="1500" dirty="0">
                <a:solidFill>
                  <a:srgbClr val="282828"/>
                </a:solidFill>
                <a:latin typeface="Tahoma"/>
              </a:rPr>
              <a:t> Database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และ</a:t>
            </a:r>
            <a:r>
              <a:rPr sz="1500" dirty="0">
                <a:solidFill>
                  <a:srgbClr val="282828"/>
                </a:solidFill>
                <a:latin typeface="Tahoma"/>
              </a:rPr>
              <a:t> Logic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ของ</a:t>
            </a:r>
            <a:r>
              <a:rPr sz="1500" dirty="0">
                <a:solidFill>
                  <a:srgbClr val="282828"/>
                </a:solidFill>
                <a:latin typeface="Tahoma"/>
              </a:rPr>
              <a:t> PTS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7. Invoice/Master →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ตรวจ</a:t>
            </a:r>
            <a:r>
              <a:rPr sz="1500" dirty="0">
                <a:solidFill>
                  <a:srgbClr val="282828"/>
                </a:solidFill>
                <a:latin typeface="Tahoma"/>
              </a:rPr>
              <a:t> SAP Response </a:t>
            </a:r>
            <a:r>
              <a:rPr sz="1500" dirty="0" err="1">
                <a:solidFill>
                  <a:srgbClr val="282828"/>
                </a:solidFill>
                <a:latin typeface="Tahoma"/>
              </a:rPr>
              <a:t>และ</a:t>
            </a:r>
            <a:r>
              <a:rPr sz="1500" dirty="0">
                <a:solidFill>
                  <a:srgbClr val="282828"/>
                </a:solidFill>
                <a:latin typeface="Tahoma"/>
              </a:rPr>
              <a:t> Data Conversion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82828"/>
                </a:solidFill>
                <a:latin typeface="Tahoma"/>
              </a:rPr>
              <a:t>• 8. 401 → Authentication/MuleSoft; 500/503 → App/Dependency/Connectivity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Tahoma"/>
              </a:rPr>
              <a:t>Support Notes / ข้อควรระวัง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82828"/>
                </a:solidFill>
                <a:latin typeface="Tahoma"/>
              </a:rPr>
              <a:t>• ห้ามแนบ Bearer Token, Password หรือ Secret แบบไม่ปกปิดใน Ticket/Email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82828"/>
                </a:solidFill>
                <a:latin typeface="Tahoma"/>
              </a:rPr>
              <a:t>• ระบุให้ชัดว่าปัญหาเกิดที่ VMCS หรือ PTS เพราะบางหน้าจอเป็น Shared Block / Open ไป Application เดิม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82828"/>
                </a:solidFill>
                <a:latin typeface="Tahoma"/>
              </a:rPr>
              <a:t>• Home / FAQs มีประเด็น Option/TBD ในเอกสารต้นทาง ควรยืนยัน Design ล่าสุดก่อนแก้ Functional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82828"/>
                </a:solidFill>
                <a:latin typeface="Tahoma"/>
              </a:rPr>
              <a:t>• ปัญหาหลัง Migration ต้องแยก Source Data / Mapping / Conversion / Migration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82828"/>
                </a:solidFill>
                <a:latin typeface="Tahoma"/>
              </a:rPr>
              <a:t>• เมื่อ SAP เปลี่ยน Structure ให้ตรวจ Field Type, Length และ Mapping ก่อนสรุปว่าเป็น UI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6464"/>
                </a:solidFill>
                <a:latin typeface="Tahoma"/>
              </a:rPr>
              <a:t>VMCS / Payment Tracking (PTS) | KT Support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788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สุชาญ์ เมธาเวชวิชิต</cp:lastModifiedBy>
  <cp:revision>2</cp:revision>
  <dcterms:created xsi:type="dcterms:W3CDTF">2013-01-27T09:14:16Z</dcterms:created>
  <dcterms:modified xsi:type="dcterms:W3CDTF">2026-08-25T04:31:45Z</dcterms:modified>
  <cp:category/>
</cp:coreProperties>
</file>